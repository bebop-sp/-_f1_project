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grandir Grand Medium" charset="1" panose="00000607000000000000"/>
      <p:regular r:id="rId21"/>
    </p:embeddedFont>
    <p:embeddedFont>
      <p:font typeface="Garet" charset="1" panose="00000000000000000000"/>
      <p:regular r:id="rId22"/>
    </p:embeddedFont>
    <p:embeddedFont>
      <p:font typeface="Garet Light" charset="1" panose="00000000000000000000"/>
      <p:regular r:id="rId23"/>
    </p:embeddedFont>
    <p:embeddedFont>
      <p:font typeface="Agrandir Grand" charset="1" panose="00000507000000000000"/>
      <p:regular r:id="rId24"/>
    </p:embeddedFont>
    <p:embeddedFont>
      <p:font typeface="Canva Sans" charset="1" panose="020B0503030501040103"/>
      <p:regular r:id="rId25"/>
    </p:embeddedFont>
    <p:embeddedFont>
      <p:font typeface="Garet Bold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595" t="0" r="-17932" b="-1469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52783" y="0"/>
            <a:ext cx="18593566" cy="10525414"/>
          </a:xfrm>
          <a:custGeom>
            <a:avLst/>
            <a:gdLst/>
            <a:ahLst/>
            <a:cxnLst/>
            <a:rect r="r" b="b" t="t" l="l"/>
            <a:pathLst>
              <a:path h="10525414" w="18593566">
                <a:moveTo>
                  <a:pt x="0" y="10525414"/>
                </a:moveTo>
                <a:lnTo>
                  <a:pt x="18593566" y="10525414"/>
                </a:lnTo>
                <a:lnTo>
                  <a:pt x="18593566" y="0"/>
                </a:lnTo>
                <a:lnTo>
                  <a:pt x="0" y="0"/>
                </a:lnTo>
                <a:lnTo>
                  <a:pt x="0" y="10525414"/>
                </a:lnTo>
                <a:close/>
              </a:path>
            </a:pathLst>
          </a:custGeom>
          <a:blipFill>
            <a:blip r:embed="rId3"/>
            <a:stretch>
              <a:fillRect l="-49845" t="-38796" r="-45359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0" y="6898475"/>
            <a:ext cx="4929939" cy="3388525"/>
            <a:chOff x="0" y="0"/>
            <a:chExt cx="580444" cy="3989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0444" cy="398960"/>
            </a:xfrm>
            <a:custGeom>
              <a:avLst/>
              <a:gdLst/>
              <a:ahLst/>
              <a:cxnLst/>
              <a:rect r="r" b="b" t="t" l="l"/>
              <a:pathLst>
                <a:path h="398960" w="580444">
                  <a:moveTo>
                    <a:pt x="203200" y="0"/>
                  </a:moveTo>
                  <a:lnTo>
                    <a:pt x="580444" y="0"/>
                  </a:lnTo>
                  <a:lnTo>
                    <a:pt x="377244" y="398960"/>
                  </a:lnTo>
                  <a:lnTo>
                    <a:pt x="0" y="39896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100000"/>
                  </a:srgbClr>
                </a:gs>
                <a:gs pos="100000">
                  <a:srgbClr val="B20007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101600" y="-38100"/>
              <a:ext cx="377244" cy="437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241966" y="2339275"/>
            <a:ext cx="4468097" cy="576481"/>
            <a:chOff x="0" y="0"/>
            <a:chExt cx="5957462" cy="7686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836078" y="0"/>
              <a:ext cx="3121384" cy="768641"/>
            </a:xfrm>
            <a:custGeom>
              <a:avLst/>
              <a:gdLst/>
              <a:ahLst/>
              <a:cxnLst/>
              <a:rect r="r" b="b" t="t" l="l"/>
              <a:pathLst>
                <a:path h="768641" w="3121384">
                  <a:moveTo>
                    <a:pt x="0" y="0"/>
                  </a:moveTo>
                  <a:lnTo>
                    <a:pt x="3121384" y="0"/>
                  </a:lnTo>
                  <a:lnTo>
                    <a:pt x="3121384" y="768641"/>
                  </a:lnTo>
                  <a:lnTo>
                    <a:pt x="0" y="768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21384" cy="768641"/>
            </a:xfrm>
            <a:custGeom>
              <a:avLst/>
              <a:gdLst/>
              <a:ahLst/>
              <a:cxnLst/>
              <a:rect r="r" b="b" t="t" l="l"/>
              <a:pathLst>
                <a:path h="768641" w="3121384">
                  <a:moveTo>
                    <a:pt x="0" y="0"/>
                  </a:moveTo>
                  <a:lnTo>
                    <a:pt x="3121384" y="0"/>
                  </a:lnTo>
                  <a:lnTo>
                    <a:pt x="3121384" y="768641"/>
                  </a:lnTo>
                  <a:lnTo>
                    <a:pt x="0" y="7686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1028666" y="1741957"/>
            <a:ext cx="4703569" cy="0"/>
          </a:xfrm>
          <a:prstGeom prst="line">
            <a:avLst/>
          </a:prstGeom>
          <a:ln cap="flat" w="66675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666" y="1963123"/>
            <a:ext cx="11074576" cy="1262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94"/>
              </a:lnSpc>
              <a:spcBef>
                <a:spcPct val="0"/>
              </a:spcBef>
            </a:pPr>
            <a:r>
              <a:rPr lang="en-US" b="true" sz="7894" spc="157">
                <a:solidFill>
                  <a:srgbClr val="FFFFFF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F1 전략 분석 시뮬레이터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134650"/>
            <a:ext cx="397092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213714 이현강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362865" y="-1638135"/>
            <a:ext cx="5562271" cy="18288000"/>
            <a:chOff x="0" y="0"/>
            <a:chExt cx="1464960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4960" cy="4816592"/>
            </a:xfrm>
            <a:custGeom>
              <a:avLst/>
              <a:gdLst/>
              <a:ahLst/>
              <a:cxnLst/>
              <a:rect r="r" b="b" t="t" l="l"/>
              <a:pathLst>
                <a:path h="4816592" w="1464960">
                  <a:moveTo>
                    <a:pt x="0" y="0"/>
                  </a:moveTo>
                  <a:lnTo>
                    <a:pt x="1464960" y="0"/>
                  </a:lnTo>
                  <a:lnTo>
                    <a:pt x="146496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30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4960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86500" y="908368"/>
            <a:ext cx="2072800" cy="267436"/>
            <a:chOff x="0" y="0"/>
            <a:chExt cx="2763734" cy="3565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315689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28702" y="1028700"/>
            <a:ext cx="2351784" cy="0"/>
          </a:xfrm>
          <a:prstGeom prst="line">
            <a:avLst/>
          </a:prstGeom>
          <a:ln cap="rnd" w="66675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4206040" y="3621725"/>
            <a:ext cx="0" cy="1521775"/>
          </a:xfrm>
          <a:prstGeom prst="line">
            <a:avLst/>
          </a:prstGeom>
          <a:ln cap="rnd" w="19050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14175255" y="6178602"/>
            <a:ext cx="0" cy="1563724"/>
          </a:xfrm>
          <a:prstGeom prst="line">
            <a:avLst/>
          </a:prstGeom>
          <a:ln cap="rnd" w="19050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548162" y="3621725"/>
            <a:ext cx="0" cy="1521775"/>
          </a:xfrm>
          <a:prstGeom prst="line">
            <a:avLst/>
          </a:prstGeom>
          <a:ln cap="rnd" w="19050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0861708" y="6178602"/>
            <a:ext cx="0" cy="1563724"/>
          </a:xfrm>
          <a:prstGeom prst="line">
            <a:avLst/>
          </a:prstGeom>
          <a:ln cap="rnd" w="19050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10861708" y="3621725"/>
            <a:ext cx="0" cy="1521775"/>
          </a:xfrm>
          <a:prstGeom prst="line">
            <a:avLst/>
          </a:prstGeom>
          <a:ln cap="rnd" w="19050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7548162" y="6178602"/>
            <a:ext cx="0" cy="1563724"/>
          </a:xfrm>
          <a:prstGeom prst="line">
            <a:avLst/>
          </a:prstGeom>
          <a:ln cap="rnd" w="19050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14175255" y="3621725"/>
            <a:ext cx="0" cy="1521775"/>
          </a:xfrm>
          <a:prstGeom prst="line">
            <a:avLst/>
          </a:prstGeom>
          <a:ln cap="rnd" w="19050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4206040" y="6178602"/>
            <a:ext cx="0" cy="1563724"/>
          </a:xfrm>
          <a:prstGeom prst="line">
            <a:avLst/>
          </a:prstGeom>
          <a:ln cap="rnd" w="19050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5400000">
            <a:off x="2811204" y="4258113"/>
            <a:ext cx="2789672" cy="278967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190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E6E6E6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00000">
            <a:off x="12780419" y="4258113"/>
            <a:ext cx="2789672" cy="278967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190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E6E6E6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5400000">
            <a:off x="9466872" y="4258113"/>
            <a:ext cx="2789672" cy="278967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190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E6E6E6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5400000">
            <a:off x="6153326" y="4258113"/>
            <a:ext cx="2789672" cy="278967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19075" cap="sq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E6E6E6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3139191" y="3206030"/>
            <a:ext cx="2284774" cy="3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5932" indent="-222966" lvl="1">
              <a:lnSpc>
                <a:spcPts val="2437"/>
              </a:lnSpc>
              <a:spcBef>
                <a:spcPct val="0"/>
              </a:spcBef>
              <a:buAutoNum type="arabicPeriod" startAt="1"/>
            </a:pPr>
            <a:r>
              <a:rPr lang="en-US" sz="2065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 프로젝트 소개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19229" y="5242221"/>
            <a:ext cx="2180103" cy="804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18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3_1 알고리즘 및 동작 매커니즘</a:t>
            </a:r>
          </a:p>
          <a:p>
            <a:pPr algn="ctr" marL="0" indent="0" lvl="0">
              <a:lnSpc>
                <a:spcPts val="2124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3_2 시간 복잡도 분석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325635" y="5361646"/>
            <a:ext cx="2237141" cy="53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7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1_1 배경</a:t>
            </a:r>
          </a:p>
          <a:p>
            <a:pPr algn="l">
              <a:lnSpc>
                <a:spcPts val="2123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1_2 개요 및 환경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41665" y="5326305"/>
            <a:ext cx="1736775" cy="53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8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2_1 F1 이란</a:t>
            </a:r>
          </a:p>
          <a:p>
            <a:pPr algn="l">
              <a:lnSpc>
                <a:spcPts val="2124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2_2 기능 설명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86774" y="5338320"/>
            <a:ext cx="3176961" cy="53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3"/>
              </a:lnSpc>
            </a:pPr>
            <a:r>
              <a:rPr lang="en-US" sz="17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4_1 프로젝트 과정</a:t>
            </a:r>
          </a:p>
          <a:p>
            <a:pPr algn="ctr" marL="0" indent="0" lvl="0">
              <a:lnSpc>
                <a:spcPts val="2123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4_2 한계 및 개선점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716725" y="8018551"/>
            <a:ext cx="8854550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99"/>
              </a:lnSpc>
              <a:spcBef>
                <a:spcPct val="0"/>
              </a:spcBef>
            </a:pPr>
            <a:r>
              <a:rPr lang="en-US" sz="3999" spc="1491">
                <a:solidFill>
                  <a:srgbClr val="FF000A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ALIQUA</a:t>
            </a:r>
            <a:r>
              <a:rPr lang="en-US" sz="3999" spc="1491" strike="noStrike" u="none">
                <a:solidFill>
                  <a:srgbClr val="FF000A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 </a:t>
            </a:r>
            <a:r>
              <a:rPr lang="en-US" sz="3999" spc="1491" strike="noStrike" u="none">
                <a:solidFill>
                  <a:srgbClr val="FF000A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PROIDENT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1165910"/>
            <a:ext cx="8790529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 spc="420">
                <a:solidFill>
                  <a:srgbClr val="FFFFFF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목차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658224" y="3201229"/>
            <a:ext cx="2284774" cy="3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5932" indent="-222966" lvl="1">
              <a:lnSpc>
                <a:spcPts val="2437"/>
              </a:lnSpc>
              <a:spcBef>
                <a:spcPct val="0"/>
              </a:spcBef>
              <a:buAutoNum type="arabicPeriod" startAt="1"/>
            </a:pPr>
            <a:r>
              <a:rPr lang="en-US" sz="2065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 F1 설명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571275" y="3206030"/>
            <a:ext cx="2284774" cy="3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5932" indent="-222966" lvl="1">
              <a:lnSpc>
                <a:spcPts val="2437"/>
              </a:lnSpc>
              <a:spcBef>
                <a:spcPct val="0"/>
              </a:spcBef>
              <a:buAutoNum type="arabicPeriod" startAt="1"/>
            </a:pPr>
            <a:r>
              <a:rPr lang="en-US" sz="2065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 결론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24084" y="3206030"/>
            <a:ext cx="2275249" cy="3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5932" indent="-222966" lvl="1">
              <a:lnSpc>
                <a:spcPts val="2437"/>
              </a:lnSpc>
              <a:spcBef>
                <a:spcPct val="0"/>
              </a:spcBef>
              <a:buAutoNum type="arabicPeriod" startAt="1"/>
            </a:pPr>
            <a:r>
              <a:rPr lang="en-US" sz="2065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 알고리즘 설명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362865" y="-1638135"/>
            <a:ext cx="5562271" cy="18288000"/>
            <a:chOff x="0" y="0"/>
            <a:chExt cx="1464960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4960" cy="4816592"/>
            </a:xfrm>
            <a:custGeom>
              <a:avLst/>
              <a:gdLst/>
              <a:ahLst/>
              <a:cxnLst/>
              <a:rect r="r" b="b" t="t" l="l"/>
              <a:pathLst>
                <a:path h="4816592" w="1464960">
                  <a:moveTo>
                    <a:pt x="0" y="0"/>
                  </a:moveTo>
                  <a:lnTo>
                    <a:pt x="1464960" y="0"/>
                  </a:lnTo>
                  <a:lnTo>
                    <a:pt x="146496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30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4960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86500" y="908368"/>
            <a:ext cx="2072800" cy="267436"/>
            <a:chOff x="0" y="0"/>
            <a:chExt cx="2763734" cy="3565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315689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28702" y="1028700"/>
            <a:ext cx="2351784" cy="0"/>
          </a:xfrm>
          <a:prstGeom prst="line">
            <a:avLst/>
          </a:prstGeom>
          <a:ln cap="rnd" w="66675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418383" y="3205945"/>
            <a:ext cx="7542288" cy="4581940"/>
          </a:xfrm>
          <a:custGeom>
            <a:avLst/>
            <a:gdLst/>
            <a:ahLst/>
            <a:cxnLst/>
            <a:rect r="r" b="b" t="t" l="l"/>
            <a:pathLst>
              <a:path h="4581940" w="7542288">
                <a:moveTo>
                  <a:pt x="0" y="0"/>
                </a:moveTo>
                <a:lnTo>
                  <a:pt x="7542288" y="0"/>
                </a:lnTo>
                <a:lnTo>
                  <a:pt x="7542288" y="4581939"/>
                </a:lnTo>
                <a:lnTo>
                  <a:pt x="0" y="4581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91646" y="2318435"/>
            <a:ext cx="4449871" cy="6356958"/>
          </a:xfrm>
          <a:custGeom>
            <a:avLst/>
            <a:gdLst/>
            <a:ahLst/>
            <a:cxnLst/>
            <a:rect r="r" b="b" t="t" l="l"/>
            <a:pathLst>
              <a:path h="6356958" w="4449871">
                <a:moveTo>
                  <a:pt x="0" y="0"/>
                </a:moveTo>
                <a:lnTo>
                  <a:pt x="4449871" y="0"/>
                </a:lnTo>
                <a:lnTo>
                  <a:pt x="4449871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165910"/>
            <a:ext cx="14063167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 spc="420">
                <a:solidFill>
                  <a:srgbClr val="FFFFFF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배경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362865" y="-137531"/>
            <a:ext cx="5562271" cy="18288000"/>
            <a:chOff x="0" y="0"/>
            <a:chExt cx="1464960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4960" cy="4816592"/>
            </a:xfrm>
            <a:custGeom>
              <a:avLst/>
              <a:gdLst/>
              <a:ahLst/>
              <a:cxnLst/>
              <a:rect r="r" b="b" t="t" l="l"/>
              <a:pathLst>
                <a:path h="4816592" w="1464960">
                  <a:moveTo>
                    <a:pt x="0" y="0"/>
                  </a:moveTo>
                  <a:lnTo>
                    <a:pt x="1464960" y="0"/>
                  </a:lnTo>
                  <a:lnTo>
                    <a:pt x="146496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30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4960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095084"/>
            <a:ext cx="19137998" cy="403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3296" indent="-256648" lvl="1">
              <a:lnSpc>
                <a:spcPts val="3589"/>
              </a:lnSpc>
              <a:buFont typeface="Arial"/>
              <a:buChar char="•"/>
            </a:pPr>
            <a:r>
              <a:rPr lang="en-US" sz="2377" spc="57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실시간 데이터를 기반으로 경기 상황을 분석하는 시뮬레이션</a:t>
            </a:r>
          </a:p>
          <a:p>
            <a:pPr algn="l" marL="513296" indent="-256648" lvl="1">
              <a:lnSpc>
                <a:spcPts val="3589"/>
              </a:lnSpc>
              <a:buFont typeface="Arial"/>
              <a:buChar char="•"/>
            </a:pPr>
            <a:r>
              <a:rPr lang="en-US" sz="2377" spc="57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현실적인 문제로 인해 과거 데이터를 기반으로 분석 밒 시각화</a:t>
            </a:r>
          </a:p>
          <a:p>
            <a:pPr algn="l" marL="513296" indent="-256648" lvl="1">
              <a:lnSpc>
                <a:spcPts val="3589"/>
              </a:lnSpc>
              <a:buFont typeface="Arial"/>
              <a:buChar char="•"/>
            </a:pPr>
            <a:r>
              <a:rPr lang="en-US" sz="2377" spc="57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추후 설명할 기능을 가장 잘 보여주는 레이스를 선정(2021 프랑스 GP)</a:t>
            </a:r>
          </a:p>
          <a:p>
            <a:pPr algn="l">
              <a:lnSpc>
                <a:spcPts val="3589"/>
              </a:lnSpc>
            </a:pPr>
          </a:p>
          <a:p>
            <a:pPr algn="l">
              <a:lnSpc>
                <a:spcPts val="3589"/>
              </a:lnSpc>
            </a:pPr>
          </a:p>
          <a:p>
            <a:pPr algn="l" marL="513296" indent="-256648" lvl="1">
              <a:lnSpc>
                <a:spcPts val="3589"/>
              </a:lnSpc>
              <a:buFont typeface="Arial"/>
              <a:buChar char="•"/>
            </a:pPr>
            <a:r>
              <a:rPr lang="en-US" sz="2377" spc="57">
                <a:solidFill>
                  <a:srgbClr val="FFFFFF"/>
                </a:solidFill>
                <a:latin typeface="Garet Light"/>
                <a:ea typeface="Garet Light"/>
                <a:cs typeface="Garet Light"/>
                <a:sym typeface="Garet Light"/>
              </a:rPr>
              <a:t>파이썬 - Fast F1 라이브러리(F1 경기 데이터), 알고리즘 계산</a:t>
            </a:r>
          </a:p>
          <a:p>
            <a:pPr algn="l" marL="513296" indent="-256648" lvl="1">
              <a:lnSpc>
                <a:spcPts val="3589"/>
              </a:lnSpc>
              <a:buFont typeface="Arial"/>
              <a:buChar char="•"/>
            </a:pPr>
            <a:r>
              <a:rPr lang="en-US" sz="2377" spc="5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CSS + HTML - 타이밍 타워, 텔레메트리</a:t>
            </a:r>
          </a:p>
          <a:p>
            <a:pPr algn="l" marL="513296" indent="-256648" lvl="1">
              <a:lnSpc>
                <a:spcPts val="3589"/>
              </a:lnSpc>
              <a:buFont typeface="Arial"/>
              <a:buChar char="•"/>
            </a:pPr>
            <a:r>
              <a:rPr lang="en-US" sz="2377" spc="5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2D 시뮬레이션 - Canvas API</a:t>
            </a:r>
          </a:p>
          <a:p>
            <a:pPr algn="l" marL="513296" indent="-256648" lvl="1">
              <a:lnSpc>
                <a:spcPts val="3589"/>
              </a:lnSpc>
              <a:buFont typeface="Arial"/>
              <a:buChar char="•"/>
            </a:pPr>
            <a:r>
              <a:rPr lang="en-US" sz="2377" spc="57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3D 시뮬레이션 - Three.js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5186500" y="908368"/>
            <a:ext cx="2072800" cy="267436"/>
            <a:chOff x="0" y="0"/>
            <a:chExt cx="2763734" cy="3565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315689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1165910"/>
            <a:ext cx="11380586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 spc="450">
                <a:solidFill>
                  <a:srgbClr val="FFFFFF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개요 및 환경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028702" y="1028700"/>
            <a:ext cx="2351784" cy="0"/>
          </a:xfrm>
          <a:prstGeom prst="line">
            <a:avLst/>
          </a:prstGeom>
          <a:ln cap="rnd" w="66675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95458" y="0"/>
            <a:ext cx="7292542" cy="10287000"/>
            <a:chOff x="0" y="0"/>
            <a:chExt cx="192066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066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20669">
                  <a:moveTo>
                    <a:pt x="0" y="0"/>
                  </a:moveTo>
                  <a:lnTo>
                    <a:pt x="1920669" y="0"/>
                  </a:lnTo>
                  <a:lnTo>
                    <a:pt x="192066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000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2066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0" y="3265"/>
            <a:ext cx="10995458" cy="10283735"/>
            <a:chOff x="0" y="0"/>
            <a:chExt cx="2895923" cy="27084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95923" cy="2708473"/>
            </a:xfrm>
            <a:custGeom>
              <a:avLst/>
              <a:gdLst/>
              <a:ahLst/>
              <a:cxnLst/>
              <a:rect r="r" b="b" t="t" l="l"/>
              <a:pathLst>
                <a:path h="2708473" w="2895923">
                  <a:moveTo>
                    <a:pt x="0" y="0"/>
                  </a:moveTo>
                  <a:lnTo>
                    <a:pt x="2895923" y="0"/>
                  </a:lnTo>
                  <a:lnTo>
                    <a:pt x="2895923" y="2708473"/>
                  </a:lnTo>
                  <a:lnTo>
                    <a:pt x="0" y="2708473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46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895923" cy="2746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8390265" y="2945631"/>
            <a:ext cx="8493293" cy="5905719"/>
          </a:xfrm>
          <a:custGeom>
            <a:avLst/>
            <a:gdLst/>
            <a:ahLst/>
            <a:cxnLst/>
            <a:rect r="r" b="b" t="t" l="l"/>
            <a:pathLst>
              <a:path h="5905719" w="8493293">
                <a:moveTo>
                  <a:pt x="8493293" y="0"/>
                </a:moveTo>
                <a:lnTo>
                  <a:pt x="0" y="0"/>
                </a:lnTo>
                <a:lnTo>
                  <a:pt x="0" y="5905719"/>
                </a:lnTo>
                <a:lnTo>
                  <a:pt x="8493293" y="5905719"/>
                </a:lnTo>
                <a:lnTo>
                  <a:pt x="8493293" y="0"/>
                </a:lnTo>
                <a:close/>
              </a:path>
            </a:pathLst>
          </a:custGeom>
          <a:blipFill>
            <a:blip r:embed="rId2"/>
            <a:stretch>
              <a:fillRect l="-74572" t="-25658" r="-137415" b="-8690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18260"/>
            <a:ext cx="29719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9"/>
              </a:lnSpc>
              <a:spcBef>
                <a:spcPct val="0"/>
              </a:spcBef>
            </a:pPr>
            <a:r>
              <a:rPr lang="en-US" sz="1799" spc="305" strike="noStrike" u="none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PARIATUR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33095" y="2945631"/>
            <a:ext cx="2072800" cy="267436"/>
            <a:chOff x="0" y="0"/>
            <a:chExt cx="2763734" cy="3565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315689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>
            <a:off x="0" y="2593933"/>
            <a:ext cx="5089627" cy="0"/>
          </a:xfrm>
          <a:prstGeom prst="line">
            <a:avLst/>
          </a:prstGeom>
          <a:ln cap="flat" w="19050">
            <a:solidFill>
              <a:srgbClr val="FF000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1165910"/>
            <a:ext cx="6598415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 spc="420">
                <a:solidFill>
                  <a:srgbClr val="FF000A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F1 이란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59522" y="4962842"/>
            <a:ext cx="116895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단락 텍스트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3095" y="3996601"/>
            <a:ext cx="6994020" cy="112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2"/>
              </a:lnSpc>
              <a:spcBef>
                <a:spcPct val="0"/>
              </a:spcBef>
            </a:pPr>
            <a:r>
              <a:rPr lang="en-US" sz="32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최고 시속 350km와 코너에서의 중력가속도(5G)를 견뎌내는 스포츠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3606" y="6057043"/>
            <a:ext cx="6994020" cy="112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2"/>
              </a:lnSpc>
            </a:pPr>
            <a:r>
              <a:rPr lang="en-US" sz="32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10개의 팀 각각 2명씩 20명의 스포츠</a:t>
            </a:r>
          </a:p>
          <a:p>
            <a:pPr algn="ctr">
              <a:lnSpc>
                <a:spcPts val="4532"/>
              </a:lnSpc>
              <a:spcBef>
                <a:spcPct val="0"/>
              </a:spcBef>
            </a:pPr>
            <a:r>
              <a:rPr lang="en-US" sz="32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1/1000초로 갈리는 승부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147" y="7453854"/>
            <a:ext cx="8055916" cy="168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2"/>
              </a:lnSpc>
            </a:pPr>
          </a:p>
          <a:p>
            <a:pPr algn="ctr">
              <a:lnSpc>
                <a:spcPts val="4532"/>
              </a:lnSpc>
              <a:spcBef>
                <a:spcPct val="0"/>
              </a:spcBef>
            </a:pPr>
            <a:r>
              <a:rPr lang="en-US" sz="32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바퀴 4개를 완벽하게 바꾸는 데 단 2초. 타이어 교체 타이밍을 재는 치열한 수 싸움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362865" y="-1638135"/>
            <a:ext cx="5562271" cy="18288000"/>
            <a:chOff x="0" y="0"/>
            <a:chExt cx="1464960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4960" cy="4816592"/>
            </a:xfrm>
            <a:custGeom>
              <a:avLst/>
              <a:gdLst/>
              <a:ahLst/>
              <a:cxnLst/>
              <a:rect r="r" b="b" t="t" l="l"/>
              <a:pathLst>
                <a:path h="4816592" w="1464960">
                  <a:moveTo>
                    <a:pt x="0" y="0"/>
                  </a:moveTo>
                  <a:lnTo>
                    <a:pt x="1464960" y="0"/>
                  </a:lnTo>
                  <a:lnTo>
                    <a:pt x="146496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30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4960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17625" y="3334221"/>
            <a:ext cx="2072800" cy="267436"/>
            <a:chOff x="0" y="0"/>
            <a:chExt cx="2763734" cy="3565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315689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0" y="6898475"/>
            <a:ext cx="4939079" cy="3388525"/>
            <a:chOff x="0" y="0"/>
            <a:chExt cx="6585438" cy="451803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12186" y="0"/>
              <a:ext cx="6573252" cy="4518033"/>
              <a:chOff x="0" y="0"/>
              <a:chExt cx="580444" cy="39896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18" id="18"/>
          <p:cNvSpPr/>
          <p:nvPr/>
        </p:nvSpPr>
        <p:spPr>
          <a:xfrm flipH="false" flipV="false" rot="0">
            <a:off x="587736" y="2706637"/>
            <a:ext cx="8702684" cy="4895260"/>
          </a:xfrm>
          <a:custGeom>
            <a:avLst/>
            <a:gdLst/>
            <a:ahLst/>
            <a:cxnLst/>
            <a:rect r="r" b="b" t="t" l="l"/>
            <a:pathLst>
              <a:path h="4895260" w="8702684">
                <a:moveTo>
                  <a:pt x="0" y="0"/>
                </a:moveTo>
                <a:lnTo>
                  <a:pt x="8702685" y="0"/>
                </a:lnTo>
                <a:lnTo>
                  <a:pt x="8702685" y="4895260"/>
                </a:lnTo>
                <a:lnTo>
                  <a:pt x="0" y="4895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3397938" y="0"/>
            <a:ext cx="4939079" cy="3388525"/>
            <a:chOff x="0" y="0"/>
            <a:chExt cx="6585438" cy="4518033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12186" y="0"/>
              <a:ext cx="6573252" cy="4518033"/>
              <a:chOff x="0" y="0"/>
              <a:chExt cx="580444" cy="39896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9" id="29"/>
          <p:cNvSpPr txBox="true"/>
          <p:nvPr/>
        </p:nvSpPr>
        <p:spPr>
          <a:xfrm rot="0">
            <a:off x="9554148" y="4724729"/>
            <a:ext cx="6218192" cy="634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516"/>
              </a:lnSpc>
              <a:spcBef>
                <a:spcPct val="0"/>
              </a:spcBef>
            </a:pPr>
            <a:r>
              <a:rPr lang="en-US" sz="2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차량 뒤쪽의 날개(리어 윙)를 열어 공기저항을 줄이고 속도를 순간적으로 높여주는 장치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51243" y="3181051"/>
            <a:ext cx="5208057" cy="745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9"/>
              </a:lnSpc>
              <a:spcBef>
                <a:spcPct val="0"/>
              </a:spcBef>
            </a:pPr>
            <a:r>
              <a:rPr lang="en-US" sz="2291" spc="389">
                <a:solidFill>
                  <a:srgbClr val="FF1D25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DRS (DRAG REDUCTION SYSTEM, 공기저항 감소 시스템)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54148" y="6088694"/>
            <a:ext cx="8733852" cy="2834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6"/>
              </a:lnSpc>
            </a:pPr>
            <a:r>
              <a:rPr lang="en-US" sz="2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직선 도로에선 윙에 다운포스(아래로 누르는 힘)로 인해 불리함</a:t>
            </a:r>
          </a:p>
          <a:p>
            <a:pPr algn="l">
              <a:lnSpc>
                <a:spcPts val="2516"/>
              </a:lnSpc>
            </a:pPr>
          </a:p>
          <a:p>
            <a:pPr algn="l">
              <a:lnSpc>
                <a:spcPts val="2516"/>
              </a:lnSpc>
            </a:pPr>
            <a:r>
              <a:rPr lang="en-US" sz="2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다운포스를 없애기 위해 뒷날개 윗부분을 열어 저항을 줄임</a:t>
            </a:r>
          </a:p>
          <a:p>
            <a:pPr algn="l">
              <a:lnSpc>
                <a:spcPts val="2516"/>
              </a:lnSpc>
            </a:pPr>
          </a:p>
          <a:p>
            <a:pPr algn="l">
              <a:lnSpc>
                <a:spcPts val="2516"/>
              </a:lnSpc>
            </a:pPr>
            <a:r>
              <a:rPr lang="en-US" sz="2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시속 10 ~ 12KM 차이</a:t>
            </a:r>
          </a:p>
          <a:p>
            <a:pPr algn="l">
              <a:lnSpc>
                <a:spcPts val="2516"/>
              </a:lnSpc>
            </a:pPr>
          </a:p>
          <a:p>
            <a:pPr algn="l">
              <a:lnSpc>
                <a:spcPts val="2516"/>
              </a:lnSpc>
            </a:pPr>
          </a:p>
          <a:p>
            <a:pPr algn="l">
              <a:lnSpc>
                <a:spcPts val="2516"/>
              </a:lnSpc>
            </a:pPr>
            <a:r>
              <a:rPr lang="en-US" sz="2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조건 1. 앞차와의 간격 1초 이내일때 활성화 가능</a:t>
            </a:r>
          </a:p>
          <a:p>
            <a:pPr algn="l" marL="0" indent="0" lvl="1">
              <a:lnSpc>
                <a:spcPts val="2516"/>
              </a:lnSpc>
              <a:spcBef>
                <a:spcPct val="0"/>
              </a:spcBef>
            </a:pPr>
            <a:r>
              <a:rPr lang="en-US" sz="2132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조건 2. 지정된 구역에서만 활성확 가능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362865" y="-1638135"/>
            <a:ext cx="5562271" cy="18288000"/>
            <a:chOff x="0" y="0"/>
            <a:chExt cx="1464960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4960" cy="4816592"/>
            </a:xfrm>
            <a:custGeom>
              <a:avLst/>
              <a:gdLst/>
              <a:ahLst/>
              <a:cxnLst/>
              <a:rect r="r" b="b" t="t" l="l"/>
              <a:pathLst>
                <a:path h="4816592" w="1464960">
                  <a:moveTo>
                    <a:pt x="0" y="0"/>
                  </a:moveTo>
                  <a:lnTo>
                    <a:pt x="1464960" y="0"/>
                  </a:lnTo>
                  <a:lnTo>
                    <a:pt x="146496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30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4960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17625" y="1028700"/>
            <a:ext cx="2072800" cy="267436"/>
            <a:chOff x="0" y="0"/>
            <a:chExt cx="2763734" cy="3565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315689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52024" y="1028700"/>
            <a:ext cx="7428070" cy="8229600"/>
          </a:xfrm>
          <a:custGeom>
            <a:avLst/>
            <a:gdLst/>
            <a:ahLst/>
            <a:cxnLst/>
            <a:rect r="r" b="b" t="t" l="l"/>
            <a:pathLst>
              <a:path h="8229600" w="7428070">
                <a:moveTo>
                  <a:pt x="0" y="0"/>
                </a:moveTo>
                <a:lnTo>
                  <a:pt x="7428070" y="0"/>
                </a:lnTo>
                <a:lnTo>
                  <a:pt x="742807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7633" r="0" b="-17633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0800000">
            <a:off x="0" y="6898475"/>
            <a:ext cx="4939079" cy="3388525"/>
            <a:chOff x="0" y="0"/>
            <a:chExt cx="6585438" cy="451803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12186" y="0"/>
              <a:ext cx="6573252" cy="4518033"/>
              <a:chOff x="0" y="0"/>
              <a:chExt cx="580444" cy="39896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0">
            <a:off x="3397938" y="0"/>
            <a:ext cx="4939079" cy="3388525"/>
            <a:chOff x="0" y="0"/>
            <a:chExt cx="6585438" cy="4518033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12186" y="0"/>
              <a:ext cx="6573252" cy="4518033"/>
              <a:chOff x="0" y="0"/>
              <a:chExt cx="580444" cy="39896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29" id="29"/>
          <p:cNvSpPr txBox="true"/>
          <p:nvPr/>
        </p:nvSpPr>
        <p:spPr>
          <a:xfrm rot="0">
            <a:off x="12177723" y="981811"/>
            <a:ext cx="312521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9"/>
              </a:lnSpc>
              <a:spcBef>
                <a:spcPct val="0"/>
              </a:spcBef>
            </a:pPr>
            <a:r>
              <a:rPr lang="en-US" sz="1799" spc="305">
                <a:solidFill>
                  <a:srgbClr val="FF1D25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언더컷 (UNDER CUT)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17625" y="1826048"/>
            <a:ext cx="7159113" cy="778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  <a:spcBef>
                <a:spcPct val="0"/>
              </a:spcBef>
            </a:pPr>
            <a:r>
              <a:rPr lang="en-US" sz="2273">
                <a:solidFill>
                  <a:srgbClr val="FF1D25"/>
                </a:solidFill>
                <a:latin typeface="Canva Sans"/>
                <a:ea typeface="Canva Sans"/>
                <a:cs typeface="Canva Sans"/>
                <a:sym typeface="Canva Sans"/>
              </a:rPr>
              <a:t> 트랙 위에서 앞차를 추월하기 힘들 때, 타이어 교체 타이밍을 </a:t>
            </a:r>
          </a:p>
          <a:p>
            <a:pPr algn="ctr">
              <a:lnSpc>
                <a:spcPts val="3183"/>
              </a:lnSpc>
              <a:spcBef>
                <a:spcPct val="0"/>
              </a:spcBef>
            </a:pPr>
            <a:r>
              <a:rPr lang="en-US" sz="2273">
                <a:solidFill>
                  <a:srgbClr val="FF1D25"/>
                </a:solidFill>
                <a:latin typeface="Canva Sans"/>
                <a:ea typeface="Canva Sans"/>
                <a:cs typeface="Canva Sans"/>
                <a:sym typeface="Canva Sans"/>
              </a:rPr>
              <a:t>한 발 먼저 가져가서 순위를 뒤집는 고도의 전략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31115" y="3137721"/>
            <a:ext cx="7625574" cy="332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원리</a:t>
            </a:r>
          </a:p>
          <a:p>
            <a:pPr algn="just">
              <a:lnSpc>
                <a:spcPts val="2939"/>
              </a:lnSpc>
            </a:pPr>
          </a:p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오래 달려서 닳아버린 타이어는 스피드가 떨어짐</a:t>
            </a:r>
          </a:p>
          <a:p>
            <a:pPr algn="just">
              <a:lnSpc>
                <a:spcPts val="2939"/>
              </a:lnSpc>
            </a:pPr>
          </a:p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뒤차가 먼저 피트스톱(타이어 교체)하여 ‘새 타이어’로 교체</a:t>
            </a:r>
          </a:p>
          <a:p>
            <a:pPr algn="just">
              <a:lnSpc>
                <a:spcPts val="2939"/>
              </a:lnSpc>
            </a:pPr>
          </a:p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새 타이어로 한 바퀴 도는 동안 시간이득을 봄</a:t>
            </a:r>
          </a:p>
          <a:p>
            <a:pPr algn="just">
              <a:lnSpc>
                <a:spcPts val="2939"/>
              </a:lnSpc>
            </a:pPr>
          </a:p>
          <a:p>
            <a:pPr algn="just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앞차가 뒤늦게 타이어를 바꾸고 복귀했을땐 이미 손해가 큰상태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31115" y="7416165"/>
            <a:ext cx="7798593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성공 조건 1. 앞차와의 간격이 가까워서 새 타이어 스피드로 뒤집을 수 있는 거리여야함</a:t>
            </a:r>
          </a:p>
          <a:p>
            <a:pPr algn="l">
              <a:lnSpc>
                <a:spcPts val="2939"/>
              </a:lnSpc>
            </a:pP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성공 조건 2. 타이어 쿄체 후 트랙에 복귀했을 때 트래픽(다른 차들이 몰린 현상)이 없어야 함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362865" y="-1638135"/>
            <a:ext cx="5562271" cy="18288000"/>
            <a:chOff x="0" y="0"/>
            <a:chExt cx="1464960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4960" cy="4816592"/>
            </a:xfrm>
            <a:custGeom>
              <a:avLst/>
              <a:gdLst/>
              <a:ahLst/>
              <a:cxnLst/>
              <a:rect r="r" b="b" t="t" l="l"/>
              <a:pathLst>
                <a:path h="4816592" w="1464960">
                  <a:moveTo>
                    <a:pt x="0" y="0"/>
                  </a:moveTo>
                  <a:lnTo>
                    <a:pt x="1464960" y="0"/>
                  </a:lnTo>
                  <a:lnTo>
                    <a:pt x="146496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30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4960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86500" y="908368"/>
            <a:ext cx="2072800" cy="267436"/>
            <a:chOff x="0" y="0"/>
            <a:chExt cx="2763734" cy="3565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315689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165910"/>
            <a:ext cx="12978139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 spc="420">
                <a:solidFill>
                  <a:srgbClr val="FFFFFF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억지기법(전수조사) - DRS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24504" y="3783402"/>
            <a:ext cx="743899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4"/>
              </a:lnSpc>
              <a:spcBef>
                <a:spcPct val="0"/>
              </a:spcBef>
            </a:pPr>
            <a:r>
              <a:rPr lang="en-US" sz="2470" spc="41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동작 매커니즘</a:t>
            </a:r>
          </a:p>
        </p:txBody>
      </p:sp>
      <p:sp>
        <p:nvSpPr>
          <p:cNvPr name="Freeform 10" id="10"/>
          <p:cNvSpPr/>
          <p:nvPr/>
        </p:nvSpPr>
        <p:spPr>
          <a:xfrm>
            <a:off x="2348059" y="4431388"/>
            <a:ext cx="13591883" cy="486993"/>
          </a:xfrm>
          <a:custGeom>
            <a:avLst/>
            <a:gdLst/>
            <a:ahLst/>
            <a:cxnLst/>
            <a:rect r="r" b="b" t="t" l="l"/>
            <a:pathLst>
              <a:path h="486993" w="13591883">
                <a:moveTo>
                  <a:pt x="0" y="457200"/>
                </a:moveTo>
                <a:lnTo>
                  <a:pt x="0" y="228600"/>
                </a:lnTo>
                <a:cubicBezTo>
                  <a:pt x="0" y="102348"/>
                  <a:pt x="102347" y="0"/>
                  <a:pt x="228600" y="0"/>
                </a:cubicBezTo>
                <a:lnTo>
                  <a:pt x="13363283" y="0"/>
                </a:lnTo>
                <a:cubicBezTo>
                  <a:pt x="13423912" y="0"/>
                  <a:pt x="13482057" y="24085"/>
                  <a:pt x="13524927" y="66956"/>
                </a:cubicBezTo>
                <a:cubicBezTo>
                  <a:pt x="13567799" y="109827"/>
                  <a:pt x="13591883" y="167972"/>
                  <a:pt x="13591883" y="228600"/>
                </a:cubicBezTo>
                <a:lnTo>
                  <a:pt x="13591883" y="486993"/>
                </a:lnTo>
              </a:path>
            </a:pathLst>
          </a:custGeom>
          <a:ln cap="flat" w="19050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209834" y="5099356"/>
            <a:ext cx="2353445" cy="746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4"/>
              </a:lnSpc>
              <a:spcBef>
                <a:spcPct val="0"/>
              </a:spcBef>
            </a:pPr>
            <a:r>
              <a:rPr lang="en-US" sz="2538" spc="-9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정렬된 순위대로 줄세우기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028702" y="1028700"/>
            <a:ext cx="2351784" cy="0"/>
          </a:xfrm>
          <a:prstGeom prst="line">
            <a:avLst/>
          </a:prstGeom>
          <a:ln cap="rnd" w="66675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2338534" y="6268138"/>
            <a:ext cx="9525" cy="365058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4" id="14"/>
          <p:cNvSpPr txBox="true"/>
          <p:nvPr/>
        </p:nvSpPr>
        <p:spPr>
          <a:xfrm rot="0">
            <a:off x="657815" y="6997411"/>
            <a:ext cx="338048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트랙 위 드라이버들을 현재 순위 순서대로 정렬 해둠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80838" y="5099356"/>
            <a:ext cx="2127318" cy="746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4"/>
              </a:lnSpc>
              <a:spcBef>
                <a:spcPct val="0"/>
              </a:spcBef>
            </a:pPr>
            <a:r>
              <a:rPr lang="en-US" sz="2538" spc="-9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앞 차와의 간격 전수 조사</a:t>
            </a:r>
          </a:p>
        </p:txBody>
      </p:sp>
      <p:sp>
        <p:nvSpPr>
          <p:cNvPr name="AutoShape 16" id="16"/>
          <p:cNvSpPr/>
          <p:nvPr/>
        </p:nvSpPr>
        <p:spPr>
          <a:xfrm>
            <a:off x="9124953" y="6267890"/>
            <a:ext cx="9525" cy="365058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7" id="17"/>
          <p:cNvSpPr txBox="true"/>
          <p:nvPr/>
        </p:nvSpPr>
        <p:spPr>
          <a:xfrm rot="0">
            <a:off x="7453757" y="6997411"/>
            <a:ext cx="371967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2위부터 20위까지 순서대로 앞 차와의 시간 차를 계산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23910" y="5153025"/>
            <a:ext cx="2325179" cy="374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4"/>
              </a:lnSpc>
              <a:spcBef>
                <a:spcPct val="0"/>
              </a:spcBef>
            </a:pPr>
            <a:r>
              <a:rPr lang="en-US" sz="2538" spc="-9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DRS 활성화 표시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5196022" y="6267641"/>
            <a:ext cx="9525" cy="365058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0" id="20"/>
          <p:cNvSpPr txBox="true"/>
          <p:nvPr/>
        </p:nvSpPr>
        <p:spPr>
          <a:xfrm rot="0">
            <a:off x="13326661" y="7051839"/>
            <a:ext cx="3932639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앞 차와의 간격이 1.0초 이하인 드라이버를 DRS 사용가능하다고 표시함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362865" y="-1638135"/>
            <a:ext cx="5562271" cy="18288000"/>
            <a:chOff x="0" y="0"/>
            <a:chExt cx="1464960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4960" cy="4816592"/>
            </a:xfrm>
            <a:custGeom>
              <a:avLst/>
              <a:gdLst/>
              <a:ahLst/>
              <a:cxnLst/>
              <a:rect r="r" b="b" t="t" l="l"/>
              <a:pathLst>
                <a:path h="4816592" w="1464960">
                  <a:moveTo>
                    <a:pt x="0" y="0"/>
                  </a:moveTo>
                  <a:lnTo>
                    <a:pt x="1464960" y="0"/>
                  </a:lnTo>
                  <a:lnTo>
                    <a:pt x="146496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30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4960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86500" y="908368"/>
            <a:ext cx="2072800" cy="267436"/>
            <a:chOff x="0" y="0"/>
            <a:chExt cx="2763734" cy="3565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315689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165910"/>
            <a:ext cx="13289063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 spc="420">
                <a:solidFill>
                  <a:srgbClr val="FFFFFF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분할 정복(최근접 쌍 거리) - 배틀 감지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24504" y="3783402"/>
            <a:ext cx="743899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4"/>
              </a:lnSpc>
              <a:spcBef>
                <a:spcPct val="0"/>
              </a:spcBef>
            </a:pPr>
            <a:r>
              <a:rPr lang="en-US" sz="2470" spc="41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동작 매커니즘</a:t>
            </a:r>
          </a:p>
        </p:txBody>
      </p:sp>
      <p:sp>
        <p:nvSpPr>
          <p:cNvPr name="Freeform 10" id="10"/>
          <p:cNvSpPr/>
          <p:nvPr/>
        </p:nvSpPr>
        <p:spPr>
          <a:xfrm>
            <a:off x="2348059" y="4431388"/>
            <a:ext cx="13591883" cy="486993"/>
          </a:xfrm>
          <a:custGeom>
            <a:avLst/>
            <a:gdLst/>
            <a:ahLst/>
            <a:cxnLst/>
            <a:rect r="r" b="b" t="t" l="l"/>
            <a:pathLst>
              <a:path h="486993" w="13591883">
                <a:moveTo>
                  <a:pt x="0" y="457200"/>
                </a:moveTo>
                <a:lnTo>
                  <a:pt x="0" y="228600"/>
                </a:lnTo>
                <a:cubicBezTo>
                  <a:pt x="0" y="102348"/>
                  <a:pt x="102347" y="0"/>
                  <a:pt x="228600" y="0"/>
                </a:cubicBezTo>
                <a:lnTo>
                  <a:pt x="13363283" y="0"/>
                </a:lnTo>
                <a:cubicBezTo>
                  <a:pt x="13423912" y="0"/>
                  <a:pt x="13482057" y="24085"/>
                  <a:pt x="13524927" y="66956"/>
                </a:cubicBezTo>
                <a:cubicBezTo>
                  <a:pt x="13567799" y="109827"/>
                  <a:pt x="13591883" y="167972"/>
                  <a:pt x="13591883" y="228600"/>
                </a:cubicBezTo>
                <a:lnTo>
                  <a:pt x="13591883" y="486993"/>
                </a:lnTo>
              </a:path>
            </a:pathLst>
          </a:custGeom>
          <a:ln cap="flat" w="19050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313973" y="5357835"/>
            <a:ext cx="2068172" cy="27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8"/>
              </a:lnSpc>
              <a:spcBef>
                <a:spcPct val="0"/>
              </a:spcBef>
            </a:pPr>
            <a:r>
              <a:rPr lang="en-US" sz="1938" spc="-7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후보 좌표 변환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94139" y="5341519"/>
            <a:ext cx="2303781" cy="27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8"/>
              </a:lnSpc>
            </a:pPr>
            <a:r>
              <a:rPr lang="en-US" sz="1938" spc="-7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x 좌표 기준 정렬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54253" y="5341519"/>
            <a:ext cx="3179494" cy="27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8"/>
              </a:lnSpc>
            </a:pPr>
            <a:r>
              <a:rPr lang="en-US" sz="1938" spc="-7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최근접 쌍 거리 분석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07885" y="5341519"/>
            <a:ext cx="2068172" cy="27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8"/>
              </a:lnSpc>
            </a:pPr>
            <a:r>
              <a:rPr lang="en-US" sz="1938" spc="-7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배틀 기록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25716" y="5361585"/>
            <a:ext cx="2428451" cy="256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6"/>
              </a:lnSpc>
            </a:pPr>
            <a:r>
              <a:rPr lang="en-US" sz="1738" spc="-6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상위  3개 선정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02" y="1028700"/>
            <a:ext cx="2351784" cy="0"/>
          </a:xfrm>
          <a:prstGeom prst="line">
            <a:avLst/>
          </a:prstGeom>
          <a:ln cap="rnd" w="66675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>
            <a:off x="2338534" y="5951259"/>
            <a:ext cx="0" cy="194994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 flipH="true">
            <a:off x="5755554" y="5951259"/>
            <a:ext cx="0" cy="194994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 flipH="true">
            <a:off x="9134475" y="5951259"/>
            <a:ext cx="0" cy="194994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0" id="20"/>
          <p:cNvSpPr/>
          <p:nvPr/>
        </p:nvSpPr>
        <p:spPr>
          <a:xfrm flipH="true">
            <a:off x="12541971" y="5951259"/>
            <a:ext cx="0" cy="194994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1" id="21"/>
          <p:cNvSpPr/>
          <p:nvPr/>
        </p:nvSpPr>
        <p:spPr>
          <a:xfrm>
            <a:off x="15930416" y="5951259"/>
            <a:ext cx="0" cy="194994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2" id="22"/>
          <p:cNvSpPr txBox="true"/>
          <p:nvPr/>
        </p:nvSpPr>
        <p:spPr>
          <a:xfrm rot="0">
            <a:off x="1044361" y="6519392"/>
            <a:ext cx="2607396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트렉 위 드라이버들의 위치를</a:t>
            </a:r>
          </a:p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1차원 좌표 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(현재 랩) + (랩 내 진행률 0 ~1)로 환산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65311" y="6595096"/>
            <a:ext cx="3380487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환산된 좌표를 작은 값부터 큰순으로 정렬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53757" y="6623036"/>
            <a:ext cx="338048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최근접 쌍 거리 분석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51727" y="6672291"/>
            <a:ext cx="3380487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시간 갭이 5초 이내인 쌍 모두 배틀 후로에 저장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597222" y="6519392"/>
            <a:ext cx="2556944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후보 쌍중 갭이 작은 순으로 정렬하여 가장 치열한 후보 3개 선정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362865" y="-1638135"/>
            <a:ext cx="5562271" cy="18288000"/>
            <a:chOff x="0" y="0"/>
            <a:chExt cx="1464960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4960" cy="4816592"/>
            </a:xfrm>
            <a:custGeom>
              <a:avLst/>
              <a:gdLst/>
              <a:ahLst/>
              <a:cxnLst/>
              <a:rect r="r" b="b" t="t" l="l"/>
              <a:pathLst>
                <a:path h="4816592" w="1464960">
                  <a:moveTo>
                    <a:pt x="0" y="0"/>
                  </a:moveTo>
                  <a:lnTo>
                    <a:pt x="1464960" y="0"/>
                  </a:lnTo>
                  <a:lnTo>
                    <a:pt x="146496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30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4960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86500" y="908368"/>
            <a:ext cx="2072800" cy="267436"/>
            <a:chOff x="0" y="0"/>
            <a:chExt cx="2763734" cy="3565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315689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1165910"/>
            <a:ext cx="12978139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 spc="420">
                <a:solidFill>
                  <a:srgbClr val="FFFFFF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축소정복(이진탐색) - 언더컷 시뮬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24504" y="3783402"/>
            <a:ext cx="743899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64"/>
              </a:lnSpc>
              <a:spcBef>
                <a:spcPct val="0"/>
              </a:spcBef>
            </a:pPr>
            <a:r>
              <a:rPr lang="en-US" sz="2470" spc="41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동작 매커니즘</a:t>
            </a:r>
          </a:p>
        </p:txBody>
      </p:sp>
      <p:sp>
        <p:nvSpPr>
          <p:cNvPr name="Freeform 10" id="10"/>
          <p:cNvSpPr/>
          <p:nvPr/>
        </p:nvSpPr>
        <p:spPr>
          <a:xfrm>
            <a:off x="2348059" y="4431388"/>
            <a:ext cx="13591883" cy="486993"/>
          </a:xfrm>
          <a:custGeom>
            <a:avLst/>
            <a:gdLst/>
            <a:ahLst/>
            <a:cxnLst/>
            <a:rect r="r" b="b" t="t" l="l"/>
            <a:pathLst>
              <a:path h="486993" w="13591883">
                <a:moveTo>
                  <a:pt x="0" y="457200"/>
                </a:moveTo>
                <a:lnTo>
                  <a:pt x="0" y="228600"/>
                </a:lnTo>
                <a:cubicBezTo>
                  <a:pt x="0" y="102348"/>
                  <a:pt x="102347" y="0"/>
                  <a:pt x="228600" y="0"/>
                </a:cubicBezTo>
                <a:lnTo>
                  <a:pt x="13363283" y="0"/>
                </a:lnTo>
                <a:cubicBezTo>
                  <a:pt x="13423912" y="0"/>
                  <a:pt x="13482057" y="24085"/>
                  <a:pt x="13524927" y="66956"/>
                </a:cubicBezTo>
                <a:cubicBezTo>
                  <a:pt x="13567799" y="109827"/>
                  <a:pt x="13591883" y="167972"/>
                  <a:pt x="13591883" y="228600"/>
                </a:cubicBezTo>
                <a:lnTo>
                  <a:pt x="13591883" y="486993"/>
                </a:lnTo>
              </a:path>
            </a:pathLst>
          </a:custGeom>
          <a:ln cap="flat" w="19050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313973" y="5357835"/>
            <a:ext cx="2068172" cy="27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8"/>
              </a:lnSpc>
              <a:spcBef>
                <a:spcPct val="0"/>
              </a:spcBef>
            </a:pPr>
            <a:r>
              <a:rPr lang="en-US" sz="1938" spc="-7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후보 드라이버 추리기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94139" y="5341519"/>
            <a:ext cx="2303781" cy="27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8"/>
              </a:lnSpc>
            </a:pPr>
            <a:r>
              <a:rPr lang="en-US" sz="1938" spc="-7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최적 피트 랩 탐색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54253" y="5341519"/>
            <a:ext cx="3179494" cy="27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8"/>
              </a:lnSpc>
            </a:pPr>
            <a:r>
              <a:rPr lang="en-US" sz="1938" spc="-7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피트 효율 산출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65248" y="5341519"/>
            <a:ext cx="2353445" cy="27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8"/>
              </a:lnSpc>
            </a:pPr>
            <a:r>
              <a:rPr lang="en-US" sz="1938" spc="-7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다섯 가지 보정계수 합성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25716" y="5341519"/>
            <a:ext cx="2428451" cy="27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8"/>
              </a:lnSpc>
            </a:pPr>
            <a:r>
              <a:rPr lang="en-US" sz="1938" spc="-7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추천 마킹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6702" y="6584403"/>
            <a:ext cx="2656544" cy="129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1"/>
              </a:lnSpc>
            </a:pPr>
            <a:r>
              <a:rPr lang="en-US" sz="2199" spc="-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피트에 들어가 있거나</a:t>
            </a:r>
          </a:p>
          <a:p>
            <a:pPr algn="ctr">
              <a:lnSpc>
                <a:spcPts val="2551"/>
              </a:lnSpc>
            </a:pPr>
            <a:r>
              <a:rPr lang="en-US" sz="2199" spc="-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남은 랩이 2 이하이거나</a:t>
            </a:r>
          </a:p>
          <a:p>
            <a:pPr algn="ctr">
              <a:lnSpc>
                <a:spcPts val="2551"/>
              </a:lnSpc>
            </a:pPr>
            <a:r>
              <a:rPr lang="en-US" sz="2199" spc="-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1위인 드라이버를</a:t>
            </a:r>
          </a:p>
          <a:p>
            <a:pPr algn="ctr" marL="0" indent="0" lvl="0">
              <a:lnSpc>
                <a:spcPts val="2551"/>
              </a:lnSpc>
              <a:spcBef>
                <a:spcPct val="0"/>
              </a:spcBef>
            </a:pPr>
            <a:r>
              <a:rPr lang="en-US" sz="2199" spc="-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제회한다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99871" y="6584403"/>
            <a:ext cx="2892316" cy="97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1"/>
              </a:lnSpc>
              <a:spcBef>
                <a:spcPct val="0"/>
              </a:spcBef>
            </a:pPr>
            <a:r>
              <a:rPr lang="en-US" sz="2199" spc="-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남은 후보들을 현재 랩부터 향후 30랩 or 레이스 종료 구간을 1/3으로 잘라 평가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67391" y="6584403"/>
            <a:ext cx="3334168" cy="97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1"/>
              </a:lnSpc>
              <a:spcBef>
                <a:spcPct val="0"/>
              </a:spcBef>
            </a:pPr>
            <a:r>
              <a:rPr lang="en-US" sz="2199" spc="-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각 후보랩을 다음 식으로 시간 이득을 계산하고 그 중 가장 큰 값을 주는 랩을 채택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77784" y="6584403"/>
            <a:ext cx="2984946" cy="973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1"/>
              </a:lnSpc>
              <a:spcBef>
                <a:spcPct val="0"/>
              </a:spcBef>
            </a:pPr>
            <a:r>
              <a:rPr lang="en-US" sz="2199" spc="-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얻은 최적 랩과 현재 상태를 바탕으로 다섯 가지 계수를 만들어 곱함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28420" y="6584403"/>
            <a:ext cx="3403992" cy="129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1"/>
              </a:lnSpc>
              <a:spcBef>
                <a:spcPct val="0"/>
              </a:spcBef>
            </a:pPr>
            <a:r>
              <a:rPr lang="en-US" sz="2199" spc="-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최적 피트 랩과 현재 랩의 차이가 ⅔ 랩 이내이고, 앞 차와의 갭이 2.0초 이하이며 두 드라이버 모두 피트레인에 없을때 표시</a:t>
            </a:r>
          </a:p>
        </p:txBody>
      </p:sp>
      <p:sp>
        <p:nvSpPr>
          <p:cNvPr name="AutoShape 21" id="21"/>
          <p:cNvSpPr/>
          <p:nvPr/>
        </p:nvSpPr>
        <p:spPr>
          <a:xfrm>
            <a:off x="1028702" y="1028700"/>
            <a:ext cx="2351784" cy="0"/>
          </a:xfrm>
          <a:prstGeom prst="line">
            <a:avLst/>
          </a:prstGeom>
          <a:ln cap="rnd" w="66675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2338534" y="5951259"/>
            <a:ext cx="0" cy="194994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 flipH="true">
            <a:off x="5755554" y="5951259"/>
            <a:ext cx="0" cy="194994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 flipH="true">
            <a:off x="9134475" y="5951259"/>
            <a:ext cx="0" cy="194994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 flipH="true">
            <a:off x="12541971" y="5951259"/>
            <a:ext cx="0" cy="194994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>
            <a:off x="15930416" y="5951259"/>
            <a:ext cx="0" cy="194994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 flipH="true">
            <a:off x="9124950" y="7986229"/>
            <a:ext cx="0" cy="194994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8" id="28"/>
          <p:cNvSpPr txBox="true"/>
          <p:nvPr/>
        </p:nvSpPr>
        <p:spPr>
          <a:xfrm rot="0">
            <a:off x="5746029" y="8676522"/>
            <a:ext cx="7484429" cy="649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51"/>
              </a:lnSpc>
              <a:spcBef>
                <a:spcPct val="0"/>
              </a:spcBef>
            </a:pPr>
            <a:r>
              <a:rPr lang="en-US" sz="2199" spc="-8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gain = 앞 차의 남은 타이어 누적손실 - 내 새 타이어 누적 손실 - 피트 통과 시간(23.5초) - 새 타이어 워밍업 비용 - 스틴트 초과 패널티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909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362865" y="-1638135"/>
            <a:ext cx="5562271" cy="18288000"/>
            <a:chOff x="0" y="0"/>
            <a:chExt cx="1464960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4960" cy="4816592"/>
            </a:xfrm>
            <a:custGeom>
              <a:avLst/>
              <a:gdLst/>
              <a:ahLst/>
              <a:cxnLst/>
              <a:rect r="r" b="b" t="t" l="l"/>
              <a:pathLst>
                <a:path h="4816592" w="1464960">
                  <a:moveTo>
                    <a:pt x="0" y="0"/>
                  </a:moveTo>
                  <a:lnTo>
                    <a:pt x="1464960" y="0"/>
                  </a:lnTo>
                  <a:lnTo>
                    <a:pt x="146496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30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4960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30509" y="0"/>
            <a:ext cx="4457581" cy="2364479"/>
            <a:chOff x="0" y="0"/>
            <a:chExt cx="752131" cy="398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2130" cy="398960"/>
            </a:xfrm>
            <a:custGeom>
              <a:avLst/>
              <a:gdLst/>
              <a:ahLst/>
              <a:cxnLst/>
              <a:rect r="r" b="b" t="t" l="l"/>
              <a:pathLst>
                <a:path h="398960" w="752130">
                  <a:moveTo>
                    <a:pt x="203200" y="0"/>
                  </a:moveTo>
                  <a:lnTo>
                    <a:pt x="752130" y="0"/>
                  </a:lnTo>
                  <a:lnTo>
                    <a:pt x="548930" y="398960"/>
                  </a:lnTo>
                  <a:lnTo>
                    <a:pt x="0" y="39896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548931" cy="437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2013" y="894982"/>
            <a:ext cx="2072800" cy="267436"/>
            <a:chOff x="0" y="0"/>
            <a:chExt cx="2763734" cy="3565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15689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486400" y="3538353"/>
          <a:ext cx="7315200" cy="44196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10280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구분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억지기법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분할정복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 b="true">
                          <a:solidFill>
                            <a:srgbClr val="FFFFFF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축소정복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1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적용 기능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DRS 활성화 판정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온트랙 배틀 감지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언더컷 확률 계산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176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입력 크기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드라이버 N명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드라이버 N명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드라이버 N명 * 후보 랩 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0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시간 복잡도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O(N)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O(N log 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13"/>
                        </a:lnSpc>
                        <a:defRPr/>
                      </a:pPr>
                      <a:r>
                        <a:rPr lang="en-US" sz="1938">
                          <a:solidFill>
                            <a:srgbClr val="FFFFF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O(N * K)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1028700" y="1165910"/>
            <a:ext cx="14063167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 spc="420">
                <a:solidFill>
                  <a:srgbClr val="FFFFFF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각 기능별 시간복잡도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48747" y="5552884"/>
            <a:ext cx="15590507" cy="0"/>
          </a:xfrm>
          <a:prstGeom prst="line">
            <a:avLst/>
          </a:prstGeom>
          <a:ln cap="flat" w="66675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-5400000">
            <a:off x="6362865" y="-1638135"/>
            <a:ext cx="5562271" cy="18288000"/>
            <a:chOff x="0" y="0"/>
            <a:chExt cx="1464960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4960" cy="4816592"/>
            </a:xfrm>
            <a:custGeom>
              <a:avLst/>
              <a:gdLst/>
              <a:ahLst/>
              <a:cxnLst/>
              <a:rect r="r" b="b" t="t" l="l"/>
              <a:pathLst>
                <a:path h="4816592" w="1464960">
                  <a:moveTo>
                    <a:pt x="0" y="0"/>
                  </a:moveTo>
                  <a:lnTo>
                    <a:pt x="1464960" y="0"/>
                  </a:lnTo>
                  <a:lnTo>
                    <a:pt x="146496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30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64960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105808" y="4603414"/>
            <a:ext cx="1964840" cy="1965615"/>
            <a:chOff x="0" y="0"/>
            <a:chExt cx="812800" cy="813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3120"/>
            </a:xfrm>
            <a:custGeom>
              <a:avLst/>
              <a:gdLst/>
              <a:ahLst/>
              <a:cxnLst/>
              <a:rect r="r" b="b" t="t" l="l"/>
              <a:pathLst>
                <a:path h="813120" w="812800">
                  <a:moveTo>
                    <a:pt x="406400" y="0"/>
                  </a:moveTo>
                  <a:cubicBezTo>
                    <a:pt x="181951" y="0"/>
                    <a:pt x="0" y="182023"/>
                    <a:pt x="0" y="406560"/>
                  </a:cubicBezTo>
                  <a:cubicBezTo>
                    <a:pt x="0" y="631097"/>
                    <a:pt x="181951" y="813120"/>
                    <a:pt x="406400" y="813120"/>
                  </a:cubicBezTo>
                  <a:cubicBezTo>
                    <a:pt x="630849" y="813120"/>
                    <a:pt x="812800" y="631097"/>
                    <a:pt x="812800" y="406560"/>
                  </a:cubicBezTo>
                  <a:cubicBezTo>
                    <a:pt x="812800" y="182023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76230"/>
              <a:ext cx="660400" cy="660660"/>
            </a:xfrm>
            <a:prstGeom prst="rect">
              <a:avLst/>
            </a:prstGeom>
          </p:spPr>
          <p:txBody>
            <a:bodyPr anchor="ctr" rtlCol="false" tIns="59478" lIns="59478" bIns="59478" rIns="59478"/>
            <a:lstStyle/>
            <a:p>
              <a:pPr algn="ctr">
                <a:lnSpc>
                  <a:spcPts val="29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456241" y="5329047"/>
            <a:ext cx="126397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67"/>
              </a:lnSpc>
              <a:spcBef>
                <a:spcPct val="0"/>
              </a:spcBef>
            </a:pPr>
            <a:r>
              <a:rPr lang="en-US" sz="355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DRS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41533" y="4603414"/>
            <a:ext cx="1964840" cy="1965615"/>
            <a:chOff x="0" y="0"/>
            <a:chExt cx="812800" cy="813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3120"/>
            </a:xfrm>
            <a:custGeom>
              <a:avLst/>
              <a:gdLst/>
              <a:ahLst/>
              <a:cxnLst/>
              <a:rect r="r" b="b" t="t" l="l"/>
              <a:pathLst>
                <a:path h="813120" w="812800">
                  <a:moveTo>
                    <a:pt x="406400" y="0"/>
                  </a:moveTo>
                  <a:cubicBezTo>
                    <a:pt x="181951" y="0"/>
                    <a:pt x="0" y="182023"/>
                    <a:pt x="0" y="406560"/>
                  </a:cubicBezTo>
                  <a:cubicBezTo>
                    <a:pt x="0" y="631097"/>
                    <a:pt x="181951" y="813120"/>
                    <a:pt x="406400" y="813120"/>
                  </a:cubicBezTo>
                  <a:cubicBezTo>
                    <a:pt x="630849" y="813120"/>
                    <a:pt x="812800" y="631097"/>
                    <a:pt x="812800" y="406560"/>
                  </a:cubicBezTo>
                  <a:cubicBezTo>
                    <a:pt x="812800" y="182023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76230"/>
              <a:ext cx="660400" cy="660660"/>
            </a:xfrm>
            <a:prstGeom prst="rect">
              <a:avLst/>
            </a:prstGeom>
          </p:spPr>
          <p:txBody>
            <a:bodyPr anchor="ctr" rtlCol="false" tIns="59478" lIns="59478" bIns="59478" rIns="59478"/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016750" y="5205222"/>
            <a:ext cx="1614406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55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온트랙 배틀 감지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577259" y="4569689"/>
            <a:ext cx="1964840" cy="1966389"/>
            <a:chOff x="0" y="0"/>
            <a:chExt cx="812800" cy="8134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3441"/>
            </a:xfrm>
            <a:custGeom>
              <a:avLst/>
              <a:gdLst/>
              <a:ahLst/>
              <a:cxnLst/>
              <a:rect r="r" b="b" t="t" l="l"/>
              <a:pathLst>
                <a:path h="813441" w="812800">
                  <a:moveTo>
                    <a:pt x="406400" y="0"/>
                  </a:moveTo>
                  <a:cubicBezTo>
                    <a:pt x="181951" y="0"/>
                    <a:pt x="0" y="182095"/>
                    <a:pt x="0" y="406720"/>
                  </a:cubicBezTo>
                  <a:cubicBezTo>
                    <a:pt x="0" y="631346"/>
                    <a:pt x="181951" y="813441"/>
                    <a:pt x="406400" y="813441"/>
                  </a:cubicBezTo>
                  <a:cubicBezTo>
                    <a:pt x="630849" y="813441"/>
                    <a:pt x="812800" y="631346"/>
                    <a:pt x="812800" y="406720"/>
                  </a:cubicBezTo>
                  <a:cubicBezTo>
                    <a:pt x="812800" y="182095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76260"/>
              <a:ext cx="660400" cy="660921"/>
            </a:xfrm>
            <a:prstGeom prst="rect">
              <a:avLst/>
            </a:prstGeom>
          </p:spPr>
          <p:txBody>
            <a:bodyPr anchor="ctr" rtlCol="false" tIns="59478" lIns="59478" bIns="59478" rIns="59478"/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927692" y="5171884"/>
            <a:ext cx="126397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67"/>
              </a:lnSpc>
              <a:spcBef>
                <a:spcPct val="0"/>
              </a:spcBef>
            </a:pPr>
            <a:r>
              <a:rPr lang="en-US" sz="255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언더컷 시뮬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5186500" y="908368"/>
            <a:ext cx="2072800" cy="267436"/>
            <a:chOff x="0" y="0"/>
            <a:chExt cx="2763734" cy="3565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315689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8700" y="1165910"/>
            <a:ext cx="11380586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 spc="450">
                <a:solidFill>
                  <a:srgbClr val="FFFFFF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각 알고리즘 선정 이유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028702" y="1028700"/>
            <a:ext cx="2351784" cy="0"/>
          </a:xfrm>
          <a:prstGeom prst="line">
            <a:avLst/>
          </a:prstGeom>
          <a:ln cap="rnd" w="66675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742365" y="7229319"/>
            <a:ext cx="4413409" cy="1117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</a:pPr>
            <a:r>
              <a:rPr lang="en-US" sz="2538" spc="-9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입력이 작은 상수(최대 20명)이고, </a:t>
            </a:r>
          </a:p>
          <a:p>
            <a:pPr algn="ctr">
              <a:lnSpc>
                <a:spcPts val="2944"/>
              </a:lnSpc>
            </a:pPr>
            <a:r>
              <a:rPr lang="en-US" sz="2538" spc="-9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매 프레임 단순 N회 비교로 </a:t>
            </a:r>
          </a:p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538" spc="-9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충분한 정확성과 가독성 확보</a:t>
            </a:r>
          </a:p>
        </p:txBody>
      </p:sp>
      <p:sp>
        <p:nvSpPr>
          <p:cNvPr name="AutoShape 24" id="24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gradFill>
              <a:gsLst>
                <a:gs pos="0">
                  <a:srgbClr val="FF1D25">
                    <a:alpha val="100000"/>
                  </a:srgbClr>
                </a:gs>
                <a:gs pos="100000">
                  <a:srgbClr val="3B0608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6840610" y="7229319"/>
            <a:ext cx="3966686" cy="746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</a:pPr>
            <a:r>
              <a:rPr lang="en-US" sz="2538" spc="-9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매 프레임 호출되는 함수이므로</a:t>
            </a:r>
          </a:p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538" spc="-9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점근적으로 효율적인 구현 채택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12337" y="7229319"/>
            <a:ext cx="3694684" cy="1117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538" spc="-96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후보 랩  K가 90개 수준으로 작아 전수 평가가 0% 오차로 최적점 보장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353725" y="-1638135"/>
            <a:ext cx="5562271" cy="18288000"/>
            <a:chOff x="0" y="0"/>
            <a:chExt cx="1464960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4960" cy="4816592"/>
            </a:xfrm>
            <a:custGeom>
              <a:avLst/>
              <a:gdLst/>
              <a:ahLst/>
              <a:cxnLst/>
              <a:rect r="r" b="b" t="t" l="l"/>
              <a:pathLst>
                <a:path h="4816592" w="1464960">
                  <a:moveTo>
                    <a:pt x="0" y="0"/>
                  </a:moveTo>
                  <a:lnTo>
                    <a:pt x="1464960" y="0"/>
                  </a:lnTo>
                  <a:lnTo>
                    <a:pt x="146496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30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4960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-9139" y="6898475"/>
            <a:ext cx="4939079" cy="3388525"/>
            <a:chOff x="0" y="0"/>
            <a:chExt cx="6585438" cy="451803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2186" y="0"/>
              <a:ext cx="6573252" cy="4518033"/>
              <a:chOff x="0" y="0"/>
              <a:chExt cx="580444" cy="39896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3388798" y="0"/>
            <a:ext cx="4939079" cy="3388525"/>
            <a:chOff x="0" y="0"/>
            <a:chExt cx="6585438" cy="451803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12186" y="0"/>
              <a:ext cx="6573252" cy="4518033"/>
              <a:chOff x="0" y="0"/>
              <a:chExt cx="580444" cy="39896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857116" y="3605482"/>
            <a:ext cx="9214804" cy="3457673"/>
            <a:chOff x="0" y="0"/>
            <a:chExt cx="1125964" cy="4224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5964" cy="422496"/>
            </a:xfrm>
            <a:custGeom>
              <a:avLst/>
              <a:gdLst/>
              <a:ahLst/>
              <a:cxnLst/>
              <a:rect r="r" b="b" t="t" l="l"/>
              <a:pathLst>
                <a:path h="422496" w="1125964">
                  <a:moveTo>
                    <a:pt x="0" y="0"/>
                  </a:moveTo>
                  <a:lnTo>
                    <a:pt x="1125964" y="0"/>
                  </a:lnTo>
                  <a:lnTo>
                    <a:pt x="1125964" y="422496"/>
                  </a:lnTo>
                  <a:lnTo>
                    <a:pt x="0" y="422496"/>
                  </a:lnTo>
                  <a:close/>
                </a:path>
              </a:pathLst>
            </a:custGeom>
            <a:blipFill>
              <a:blip r:embed="rId2"/>
              <a:stretch>
                <a:fillRect l="-56525" t="0" r="-28712" b="-9238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898470" y="1898473"/>
            <a:ext cx="2072800" cy="267436"/>
            <a:chOff x="0" y="0"/>
            <a:chExt cx="2763734" cy="3565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315689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517504" y="1851584"/>
            <a:ext cx="198978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9"/>
              </a:lnSpc>
              <a:spcBef>
                <a:spcPct val="0"/>
              </a:spcBef>
            </a:pPr>
            <a:r>
              <a:rPr lang="en-US" sz="1799" spc="305" strike="noStrike" u="none">
                <a:solidFill>
                  <a:srgbClr val="FF1D25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ALIQUA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1165910"/>
            <a:ext cx="8790529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 spc="420">
                <a:solidFill>
                  <a:srgbClr val="FFFFFF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프로젝트 과정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75240" y="4566741"/>
            <a:ext cx="246459" cy="32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1"/>
              </a:lnSpc>
              <a:spcBef>
                <a:spcPct val="0"/>
              </a:spcBef>
            </a:pPr>
            <a:r>
              <a:rPr lang="en-US" sz="2199" spc="-8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트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40074" y="3803396"/>
            <a:ext cx="7363252" cy="268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015"/>
              </a:lnSpc>
              <a:buFont typeface="Arial"/>
              <a:buChar char="•"/>
            </a:pPr>
            <a:r>
              <a:rPr lang="en-US" sz="2599" spc="-9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AI를 활용한 최적의 주제 선정</a:t>
            </a:r>
          </a:p>
          <a:p>
            <a:pPr algn="l">
              <a:lnSpc>
                <a:spcPts val="3015"/>
              </a:lnSpc>
            </a:pPr>
          </a:p>
          <a:p>
            <a:pPr algn="l" marL="561337" indent="-280669" lvl="1">
              <a:lnSpc>
                <a:spcPts val="3015"/>
              </a:lnSpc>
              <a:buFont typeface="Arial"/>
              <a:buChar char="•"/>
            </a:pPr>
            <a:r>
              <a:rPr lang="en-US" sz="2599" spc="-9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기초 작업 속도 향상</a:t>
            </a:r>
          </a:p>
          <a:p>
            <a:pPr algn="l">
              <a:lnSpc>
                <a:spcPts val="3015"/>
              </a:lnSpc>
            </a:pPr>
          </a:p>
          <a:p>
            <a:pPr algn="l" marL="561337" indent="-280669" lvl="1">
              <a:lnSpc>
                <a:spcPts val="3015"/>
              </a:lnSpc>
              <a:buFont typeface="Arial"/>
              <a:buChar char="•"/>
            </a:pPr>
            <a:r>
              <a:rPr lang="en-US" sz="2599" spc="-9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3D 전환으로 인한 완성도 고민</a:t>
            </a:r>
          </a:p>
          <a:p>
            <a:pPr algn="l">
              <a:lnSpc>
                <a:spcPts val="3015"/>
              </a:lnSpc>
              <a:spcBef>
                <a:spcPct val="0"/>
              </a:spcBef>
            </a:pPr>
          </a:p>
          <a:p>
            <a:pPr algn="l" marL="561337" indent="-280669" lvl="1">
              <a:lnSpc>
                <a:spcPts val="3015"/>
              </a:lnSpc>
              <a:spcBef>
                <a:spcPct val="0"/>
              </a:spcBef>
              <a:buFont typeface="Arial"/>
              <a:buChar char="•"/>
            </a:pPr>
            <a:r>
              <a:rPr lang="en-US" sz="2599" spc="-9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주도적인 디테일 수정으로 한계 극복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6353725" y="-1638135"/>
            <a:ext cx="5562271" cy="18288000"/>
            <a:chOff x="0" y="0"/>
            <a:chExt cx="1464960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4960" cy="4816592"/>
            </a:xfrm>
            <a:custGeom>
              <a:avLst/>
              <a:gdLst/>
              <a:ahLst/>
              <a:cxnLst/>
              <a:rect r="r" b="b" t="t" l="l"/>
              <a:pathLst>
                <a:path h="4816592" w="1464960">
                  <a:moveTo>
                    <a:pt x="0" y="0"/>
                  </a:moveTo>
                  <a:lnTo>
                    <a:pt x="1464960" y="0"/>
                  </a:lnTo>
                  <a:lnTo>
                    <a:pt x="1464960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FF1D25">
                    <a:alpha val="30000"/>
                  </a:srgbClr>
                </a:gs>
                <a:gs pos="100000">
                  <a:srgbClr val="3B0608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4960" cy="4854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-9139" y="6898475"/>
            <a:ext cx="4939079" cy="3388525"/>
            <a:chOff x="0" y="0"/>
            <a:chExt cx="6585438" cy="451803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2186" y="0"/>
              <a:ext cx="6573252" cy="4518033"/>
              <a:chOff x="0" y="0"/>
              <a:chExt cx="580444" cy="39896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3388798" y="0"/>
            <a:ext cx="4939079" cy="3388525"/>
            <a:chOff x="0" y="0"/>
            <a:chExt cx="6585438" cy="4518033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12186" y="0"/>
              <a:ext cx="6573252" cy="4518033"/>
              <a:chOff x="0" y="0"/>
              <a:chExt cx="580444" cy="39896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6573252" cy="4518033"/>
              <a:chOff x="0" y="0"/>
              <a:chExt cx="580444" cy="39896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580444" cy="398960"/>
              </a:xfrm>
              <a:custGeom>
                <a:avLst/>
                <a:gdLst/>
                <a:ahLst/>
                <a:cxnLst/>
                <a:rect r="r" b="b" t="t" l="l"/>
                <a:pathLst>
                  <a:path h="398960" w="580444">
                    <a:moveTo>
                      <a:pt x="203200" y="0"/>
                    </a:moveTo>
                    <a:lnTo>
                      <a:pt x="580444" y="0"/>
                    </a:lnTo>
                    <a:lnTo>
                      <a:pt x="377244" y="398960"/>
                    </a:lnTo>
                    <a:lnTo>
                      <a:pt x="0" y="39896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1D25">
                      <a:alpha val="100000"/>
                    </a:srgbClr>
                  </a:gs>
                  <a:gs pos="100000">
                    <a:srgbClr val="3B0608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38100"/>
                <a:ext cx="377244" cy="4370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857116" y="3605482"/>
            <a:ext cx="9214804" cy="3457673"/>
            <a:chOff x="0" y="0"/>
            <a:chExt cx="1125964" cy="4224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5964" cy="422496"/>
            </a:xfrm>
            <a:custGeom>
              <a:avLst/>
              <a:gdLst/>
              <a:ahLst/>
              <a:cxnLst/>
              <a:rect r="r" b="b" t="t" l="l"/>
              <a:pathLst>
                <a:path h="422496" w="1125964">
                  <a:moveTo>
                    <a:pt x="0" y="0"/>
                  </a:moveTo>
                  <a:lnTo>
                    <a:pt x="1125964" y="0"/>
                  </a:lnTo>
                  <a:lnTo>
                    <a:pt x="1125964" y="422496"/>
                  </a:lnTo>
                  <a:lnTo>
                    <a:pt x="0" y="422496"/>
                  </a:lnTo>
                  <a:close/>
                </a:path>
              </a:pathLst>
            </a:custGeom>
            <a:blipFill>
              <a:blip r:embed="rId2"/>
              <a:stretch>
                <a:fillRect l="-56525" t="0" r="-28712" b="-9238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898470" y="1898473"/>
            <a:ext cx="2072800" cy="267436"/>
            <a:chOff x="0" y="0"/>
            <a:chExt cx="2763734" cy="3565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315689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48045" cy="356581"/>
            </a:xfrm>
            <a:custGeom>
              <a:avLst/>
              <a:gdLst/>
              <a:ahLst/>
              <a:cxnLst/>
              <a:rect r="r" b="b" t="t" l="l"/>
              <a:pathLst>
                <a:path h="356581" w="1448045">
                  <a:moveTo>
                    <a:pt x="0" y="0"/>
                  </a:moveTo>
                  <a:lnTo>
                    <a:pt x="1448045" y="0"/>
                  </a:lnTo>
                  <a:lnTo>
                    <a:pt x="1448045" y="356581"/>
                  </a:lnTo>
                  <a:lnTo>
                    <a:pt x="0" y="356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517504" y="1851584"/>
            <a:ext cx="198978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9"/>
              </a:lnSpc>
              <a:spcBef>
                <a:spcPct val="0"/>
              </a:spcBef>
            </a:pPr>
            <a:r>
              <a:rPr lang="en-US" sz="1799" spc="305" strike="noStrike" u="none">
                <a:solidFill>
                  <a:srgbClr val="FF1D25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ALIQUA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1165910"/>
            <a:ext cx="8790529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0"/>
              </a:lnSpc>
              <a:spcBef>
                <a:spcPct val="0"/>
              </a:spcBef>
            </a:pPr>
            <a:r>
              <a:rPr lang="en-US" b="true" sz="6000" spc="420">
                <a:solidFill>
                  <a:srgbClr val="FFFFFF"/>
                </a:solidFill>
                <a:latin typeface="Agrandir Grand Medium"/>
                <a:ea typeface="Agrandir Grand Medium"/>
                <a:cs typeface="Agrandir Grand Medium"/>
                <a:sym typeface="Agrandir Grand Medium"/>
              </a:rPr>
              <a:t>한계 및 개선 방향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75240" y="4566741"/>
            <a:ext cx="246459" cy="32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1"/>
              </a:lnSpc>
              <a:spcBef>
                <a:spcPct val="0"/>
              </a:spcBef>
            </a:pPr>
            <a:r>
              <a:rPr lang="en-US" sz="2199" spc="-8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트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40074" y="4031298"/>
            <a:ext cx="7363252" cy="262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3479"/>
              </a:lnSpc>
              <a:buFont typeface="Arial"/>
              <a:buChar char="•"/>
            </a:pPr>
            <a:r>
              <a:rPr lang="en-US" sz="2999" spc="-11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데이터 공급의 한계와 현실적 타협</a:t>
            </a:r>
          </a:p>
          <a:p>
            <a:pPr algn="l">
              <a:lnSpc>
                <a:spcPts val="3479"/>
              </a:lnSpc>
            </a:pPr>
          </a:p>
          <a:p>
            <a:pPr algn="l" marL="647695" indent="-323848" lvl="1">
              <a:lnSpc>
                <a:spcPts val="3479"/>
              </a:lnSpc>
              <a:buFont typeface="Arial"/>
              <a:buChar char="•"/>
            </a:pPr>
            <a:r>
              <a:rPr lang="en-US" sz="2999" spc="-11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시뮬레이션 변수의 과감한 단순화</a:t>
            </a:r>
          </a:p>
          <a:p>
            <a:pPr algn="l">
              <a:lnSpc>
                <a:spcPts val="3479"/>
              </a:lnSpc>
            </a:pPr>
          </a:p>
          <a:p>
            <a:pPr algn="l" marL="647695" indent="-323848" lvl="1">
              <a:lnSpc>
                <a:spcPts val="347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11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차기 발전 방향</a:t>
            </a:r>
          </a:p>
          <a:p>
            <a:pPr algn="l">
              <a:lnSpc>
                <a:spcPts val="34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87151" y="4476942"/>
            <a:ext cx="2913697" cy="137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7"/>
              </a:lnSpc>
              <a:spcBef>
                <a:spcPct val="0"/>
              </a:spcBef>
            </a:pPr>
            <a:r>
              <a:rPr lang="en-US" sz="9299" spc="-353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DAHKjGxGxkY</dc:identifier>
  <dcterms:modified xsi:type="dcterms:W3CDTF">2011-08-01T06:04:30Z</dcterms:modified>
  <cp:revision>1</cp:revision>
  <dc:title>213714 이현강</dc:title>
</cp:coreProperties>
</file>